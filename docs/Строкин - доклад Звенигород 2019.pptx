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15"/>
  </p:notesMasterIdLst>
  <p:sldIdLst>
    <p:sldId id="307" r:id="rId2"/>
    <p:sldId id="405" r:id="rId3"/>
    <p:sldId id="417" r:id="rId4"/>
    <p:sldId id="418" r:id="rId5"/>
    <p:sldId id="406" r:id="rId6"/>
    <p:sldId id="407" r:id="rId7"/>
    <p:sldId id="409" r:id="rId8"/>
    <p:sldId id="411" r:id="rId9"/>
    <p:sldId id="413" r:id="rId10"/>
    <p:sldId id="415" r:id="rId11"/>
    <p:sldId id="416" r:id="rId12"/>
    <p:sldId id="419" r:id="rId13"/>
    <p:sldId id="397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A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7270" autoAdjust="0"/>
  </p:normalViewPr>
  <p:slideViewPr>
    <p:cSldViewPr snapToGrid="0">
      <p:cViewPr varScale="1">
        <p:scale>
          <a:sx n="81" d="100"/>
          <a:sy n="81" d="100"/>
        </p:scale>
        <p:origin x="111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97877-44C8-4228-ACE4-566957C65F76}" type="datetimeFigureOut">
              <a:rPr lang="ru-RU" smtClean="0"/>
              <a:pPr/>
              <a:t>20.03.2019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317F1-3AC0-4F19-9289-366B361E3E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99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B317F1-3AC0-4F19-9289-366B361E3EA3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980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B317F1-3AC0-4F19-9289-366B361E3EA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712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D16-9A91-4A21-B06F-F23930CE8D76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252-95EE-4B52-9ED3-25ED684499A7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3ABC-EA05-4EE0-BBCB-78537469188B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AA84-F4DE-4D2D-87A7-21A646642265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08D-F34F-446C-91AB-86223782FD98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F0F2C-1F7A-4DBE-A5AD-AD01332DC1D3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0936-14AB-489E-A519-0BA947EB24BE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7EB10-4A46-4321-8A38-40DC6A94DCA5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BEBC0-99EB-4CD2-B4AE-F7A41B09FDC5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9C5A1-DE61-42B6-BDBC-2859C43D953F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3BB0-671A-47CA-B45A-EE556D59A242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B35BECF-B78F-4554-B29C-6A6951B4925E}" type="datetime1">
              <a:rPr lang="ru-RU" smtClean="0"/>
              <a:pPr/>
              <a:t>20.03.2019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60D9CA5-585B-47E1-A3D7-DFB886C196F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trokin85@inbox.r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microsoft.com/office/2007/relationships/hdphoto" Target="../media/hdphoto7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9.wdp"/><Relationship Id="rId5" Type="http://schemas.openxmlformats.org/officeDocument/2006/relationships/image" Target="../media/image10.png"/><Relationship Id="rId4" Type="http://schemas.microsoft.com/office/2007/relationships/hdphoto" Target="../media/hdphoto8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56656" y="1063469"/>
            <a:ext cx="7998792" cy="2750769"/>
          </a:xfrm>
          <a:noFill/>
        </p:spPr>
        <p:txBody>
          <a:bodyPr anchor="ctr" anchorCtr="1">
            <a:noAutofit/>
          </a:bodyPr>
          <a:lstStyle/>
          <a:p>
            <a:br>
              <a:rPr lang="ru-RU" sz="48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br>
              <a:rPr lang="ru-RU" sz="48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br>
              <a:rPr lang="ru-RU" sz="48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br>
              <a:rPr lang="ru-RU" sz="48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br>
              <a:rPr lang="ru-RU" sz="48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br>
              <a:rPr lang="ru-RU" sz="48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ПРЫЖКИ АНОДНОГО СЛОЯ </a:t>
            </a:r>
            <a:br>
              <a:rPr lang="ru-RU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 ЗОНЕ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</a:t>
            </a:r>
            <a:r>
              <a:rPr lang="ru-RU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 РАЗРЯДА</a:t>
            </a:r>
            <a:br>
              <a:rPr lang="ru-RU" sz="2400" dirty="0"/>
            </a:br>
            <a:r>
              <a:rPr lang="ru-RU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Н.А. Строкин</a:t>
            </a:r>
            <a:r>
              <a:rPr lang="ru-RU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А.В. Казанцев, В.М</a:t>
            </a:r>
            <a:r>
              <a:rPr lang="ru-RU" sz="180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Бардаков</a:t>
            </a:r>
            <a:r>
              <a:rPr lang="ru-RU" sz="180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Нгуен Тхе Тханг </a:t>
            </a:r>
            <a:br>
              <a:rPr lang="ru-RU" sz="180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800" u="sng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400" u="sng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br>
              <a:rPr lang="ru-RU" sz="1400" u="sng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br>
              <a:rPr lang="ru-RU" sz="1400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14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Иркутский национальный исследовательский </a:t>
            </a:r>
            <a:r>
              <a:rPr lang="ru-RU" sz="1400" b="0" i="1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технический университет </a:t>
            </a:r>
            <a:br>
              <a:rPr lang="ru-RU" sz="1400" b="0" i="1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1400" b="0" i="1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е-</a:t>
            </a:r>
            <a:r>
              <a:rPr lang="ru-RU" sz="1400" b="0" i="1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mail</a:t>
            </a:r>
            <a:r>
              <a:rPr lang="ru-RU" sz="1400" b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1400" b="0" i="1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  <a:hlinkClick r:id="rId3"/>
              </a:rPr>
              <a:t>strokin85@inbox.ru</a:t>
            </a:r>
            <a:br>
              <a:rPr lang="ru-RU" sz="1200" b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1200" b="0" i="1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1200" b="0" i="1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br>
              <a:rPr lang="ru-RU" sz="4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ru-RU" sz="4800" dirty="0">
                <a:solidFill>
                  <a:srgbClr val="002060"/>
                </a:solidFill>
              </a:rPr>
            </a:br>
            <a:endParaRPr lang="ru-RU" sz="4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694792" y="6250163"/>
            <a:ext cx="1161826" cy="365125"/>
          </a:xfrm>
        </p:spPr>
        <p:txBody>
          <a:bodyPr/>
          <a:lstStyle/>
          <a:p>
            <a:fld id="{260D9CA5-585B-47E1-A3D7-DFB886C196FA}" type="slidenum">
              <a:rPr lang="ru-RU" sz="20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36728" y="1670593"/>
            <a:ext cx="359970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ПОМС–Е–3 </a:t>
            </a:r>
          </a:p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формирования </a:t>
            </a:r>
          </a:p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многокомпонентного потока ионов: </a:t>
            </a:r>
          </a:p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– источник плазмы – плазменный </a:t>
            </a:r>
          </a:p>
          <a:p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ускоритель с анодным слоем 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УАС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– азимутатор, совмещенный </a:t>
            </a:r>
          </a:p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с катодом УАС;</a:t>
            </a:r>
          </a:p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– сепарирующее пространство.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6395" y="1199175"/>
            <a:ext cx="7038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НА ЭЛЕМЕНТЫ / ГРУППЫ ЭЛЕМЕНТОВ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745232" y="4125285"/>
            <a:ext cx="51938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Franklin Gothic Medium Cond" panose="020B0606030402020204" pitchFamily="34" charset="0"/>
                <a:cs typeface="FrankRuehl" panose="020E0503060101010101" pitchFamily="34" charset="-79"/>
              </a:rPr>
              <a:t>Цель исследований: нахождение, изучение оптимальных режимов работы УАС </a:t>
            </a: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Franklin Gothic Medium Cond" panose="020B0606030402020204" pitchFamily="34" charset="0"/>
                <a:cs typeface="FrankRuehl" panose="020E0503060101010101" pitchFamily="34" charset="-79"/>
                <a:sym typeface="Symbol"/>
              </a:rPr>
              <a:t> </a:t>
            </a: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Franklin Gothic Medium Cond" panose="020B0606030402020204" pitchFamily="34" charset="0"/>
                <a:cs typeface="FrankRuehl" panose="020E0503060101010101" pitchFamily="34" charset="-79"/>
              </a:rPr>
              <a:t>Е</a:t>
            </a: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Franklin Gothic Medium Cond" panose="020B0606030402020204" pitchFamily="34" charset="0"/>
                <a:cs typeface="FrankRuehl" panose="020E0503060101010101" pitchFamily="34" charset="-79"/>
                <a:sym typeface="Symbol"/>
              </a:rPr>
              <a:t>В-разряда</a:t>
            </a: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Franklin Gothic Medium Cond" panose="020B0606030402020204" pitchFamily="34" charset="0"/>
                <a:cs typeface="FrankRuehl" panose="020E0503060101010101" pitchFamily="34" charset="-79"/>
              </a:rPr>
              <a:t> с использованием наиболее информативных измерений – функций распределения ионов по энергии, что позволило отслеживать за поведением тока и плотности ионов при изменении разрядного напряжения, давления плазмообразующего газа и магнитной индукции.</a:t>
            </a:r>
            <a:endParaRPr lang="ru-RU" sz="1400" dirty="0">
              <a:solidFill>
                <a:schemeClr val="tx2">
                  <a:lumMod val="50000"/>
                </a:schemeClr>
              </a:solidFill>
              <a:effectLst/>
              <a:latin typeface="Franklin Gothic Medium Cond" panose="020B0606030402020204" pitchFamily="34" charset="0"/>
              <a:cs typeface="FrankRuehl" panose="020E0503060101010101" pitchFamily="34" charset="-79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85" y="1684821"/>
            <a:ext cx="2880000" cy="3631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994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3</a:t>
            </a:fld>
            <a:endParaRPr lang="ru-RU" sz="105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60938" y="1084558"/>
            <a:ext cx="787433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itchFamily="18" charset="0"/>
                <a:cs typeface="Times New Roman" panose="02020603050405020304" pitchFamily="18" charset="0"/>
              </a:rPr>
              <a:t>В плазменном ускорителе с анодным слоем исследовался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itchFamily="18" charset="0"/>
                <a:cs typeface="Times New Roman" panose="02020603050405020304" pitchFamily="18" charset="0"/>
              </a:rPr>
              <a:t>самостоятельный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itchFamily="18" charset="0"/>
                <a:cs typeface="Times New Roman" panose="02020603050405020304" pitchFamily="18" charset="0"/>
                <a:sym typeface="Symbol"/>
              </a:rPr>
              <a:t>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itchFamily="18" charset="0"/>
                <a:cs typeface="Times New Roman" panose="02020603050405020304" pitchFamily="18" charset="0"/>
              </a:rPr>
              <a:t> </a:t>
            </a:r>
          </a:p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600" b="1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без</a:t>
            </a: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внешнего источника электронов </a:t>
            </a:r>
            <a:r>
              <a:rPr lang="ru-RU" altLang="ru-RU" sz="16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поджига</a:t>
            </a: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и поддержания разряда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itchFamily="18" charset="0"/>
                <a:cs typeface="Times New Roman" panose="02020603050405020304" pitchFamily="18" charset="0"/>
              </a:rPr>
              <a:t>стационарный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холловский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(электроны замагниченные, ионы – нет) </a:t>
            </a:r>
            <a:r>
              <a:rPr kumimoji="0" lang="ru-RU" altLang="ru-RU" sz="16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itchFamily="18" charset="0"/>
                <a:cs typeface="Times New Roman" panose="02020603050405020304" pitchFamily="18" charset="0"/>
              </a:rPr>
              <a:t>Е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</a:t>
            </a:r>
            <a:r>
              <a:rPr kumimoji="0" lang="ru-RU" altLang="ru-RU" sz="16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itchFamily="18" charset="0"/>
                <a:cs typeface="Times New Roman" panose="02020603050405020304" pitchFamily="18" charset="0"/>
              </a:rPr>
              <a:t>В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разряд </a:t>
            </a:r>
          </a:p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с плоскими анодом и катодом. </a:t>
            </a:r>
          </a:p>
          <a:p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Разрядное напряжение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U</a:t>
            </a:r>
            <a:r>
              <a:rPr kumimoji="0" lang="en-US" altLang="ru-RU" sz="16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изменялось от 200 до 1800 В, ток разряда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0.3 А</a:t>
            </a: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.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Радиальная компонента индукции магнитного поля на аноде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0.12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л;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катоде при этом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0.045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0.515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л;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dz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0. </a:t>
            </a:r>
          </a:p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37514" y="2953261"/>
            <a:ext cx="831612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Рабочие газы – аргон, азот, неон; давление рабочего газа, измеренное на выходе из УАС, изменялось в диапазоне 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 котором поджигался и устойчиво горел самостоятельный аномальный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разряд.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Вольтамперная характеристика разряда – монотонная линейно возрастающая; зависимости от плотности нейтралов нет. 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Ускоритель пристыковывался к вакуумному корпусу объемом около 1 м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Остаточное давление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криогенный насос. </a:t>
            </a:r>
          </a:p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  Осевая межэлектродная линия УАС</a:t>
            </a:r>
            <a:r>
              <a:rPr lang="en-US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имеет радиус</a:t>
            </a:r>
            <a:r>
              <a:rPr lang="ru-RU" altLang="ru-RU" sz="1600" i="1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ru-RU" sz="1600" i="1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= 90 мм; </a:t>
            </a:r>
          </a:p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  радиусы щели в катоде </a:t>
            </a:r>
            <a:r>
              <a:rPr lang="en-US" altLang="ru-RU" sz="1600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ru-RU" sz="1600" i="1" baseline="-30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min</a:t>
            </a: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= 87.5 мм, </a:t>
            </a:r>
            <a:r>
              <a:rPr lang="en-US" altLang="ru-RU" sz="1600" i="1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ru-RU" sz="1600" i="1" baseline="-300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max</a:t>
            </a: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= 92.5 мм; расстояние анод-катод </a:t>
            </a:r>
            <a:r>
              <a:rPr lang="en-US" altLang="ru-RU" sz="1600" i="1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L</a:t>
            </a: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= 8 мм. </a:t>
            </a:r>
          </a:p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  <a:sym typeface="Symbol" pitchFamily="18" charset="2"/>
              </a:rPr>
              <a:t>   Катод выполнен из магнитомягкой стали, анод – немагнитный (нержавеющая сталь). 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8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86620" y="1394685"/>
            <a:ext cx="83909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Спектры ионов по энергии измерялись с помощью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трехсеточного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энергоанализатора с задерживающим потенциалом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сигналы с которого поступали в систему регистрации, где производилась их первичная обработка: построение кривой задержки, функции распределения, интегрирование которой давало плотность и среднюю энергию ионов.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распределения строились по аппроксимированным полиномами или сплайнами кривым задержки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Анализирующее напряжение подавалось от генератора ступенчатого напряжения; длительность ступени 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с; на каждой ступени производилось усреднение по 20 измерениям; время измерения полного спектра – около 1 секунды (зависит от величины шага по напряжению и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8768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53573" y="4760164"/>
            <a:ext cx="863685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со скачком плотности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Монотонный рост </a:t>
            </a:r>
            <a:r>
              <a:rPr lang="ru-RU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плотности ионов изменяется скачком в 16 раз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1.6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–3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росте давления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аргона лишь в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1.17 раза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 1.2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1.4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Энергетические спектры ионов при скачке резко сдвигаются в сторону низких энергий: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вероятная энергия ионов падает от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756 эВ до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328 эВ.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13472" y="3780521"/>
            <a:ext cx="684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1. Эволюция функции распределения ионов «на скачке плотности», показанном во вставке на рис.  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аргон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0.097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 В;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кривая 1 –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2 – 8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3 – 1.2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4 – 1.4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5 – 1.8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6 – 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4" y="804276"/>
            <a:ext cx="7200000" cy="293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4672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D7A3CC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57" y="1079528"/>
            <a:ext cx="3600000" cy="272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4294453" y="994557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Эволюция функции распределения ионов при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росте давления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прыжок анодного слоя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 катоду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неон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0.03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л; 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750 В; 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кривая 1 –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2 – 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3 – 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– 1.4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5 – 1.8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6 – 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плотность изменяется от 3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4.7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–3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(скачок плотности в 1.6 раза –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4636" y="3772247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67031" y="4382762"/>
            <a:ext cx="71337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Пороговая зависимость от локальной (в области разряда, где происходит перестройка) плотности и / или энергии электронов, обеспечивающих ионизацию нейтралов. </a:t>
            </a:r>
          </a:p>
        </p:txBody>
      </p:sp>
    </p:spTree>
    <p:extLst>
      <p:ext uri="{BB962C8B-B14F-4D97-AF65-F5344CB8AC3E}">
        <p14:creationId xmlns:p14="http://schemas.microsoft.com/office/powerpoint/2010/main" val="314013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b="1" smtClean="0"/>
              <a:pPr/>
              <a:t>7</a:t>
            </a:fld>
            <a:endParaRPr lang="ru-R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27" y="1233736"/>
            <a:ext cx="2880000" cy="2520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41603" y="3765371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3. Зависимость плотности ионов на выходе УАС от величины индукции магнитного поля на аноде: кривая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неон; 2 – азот; 3 – аргон;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 В;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rgbClr val="D7A3CC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592" y="1254208"/>
            <a:ext cx="3744041" cy="25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4817120" y="3786761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4. Распределения ионов по энергии: кривая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0.02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л; 2 – 0.06; 3 – 0.11; 4 – 0.12; </a:t>
            </a:r>
          </a:p>
          <a:p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 В; неон;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23491" y="4630693"/>
            <a:ext cx="870214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Немонотонная зависимость плотности ионов 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трех рабочих газов на выходе УАС от величины индукции магнитного поля при постоянных давлении газа и разрядном напряжении, наиболее «глубокая» для неона: </a:t>
            </a:r>
            <a:r>
              <a:rPr lang="en-US" sz="1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i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6.3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</a:t>
            </a:r>
            <a:r>
              <a:rPr lang="ru-RU" sz="1600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–3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i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1.6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</a:t>
            </a:r>
            <a:r>
              <a:rPr lang="ru-RU" sz="1600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–3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i="1" dirty="0"/>
              <a:t> </a:t>
            </a:r>
            <a:r>
              <a:rPr lang="en-US" sz="16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="1" i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sz="16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="1" i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5%.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23491" y="5549558"/>
            <a:ext cx="87021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Видно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режима горения разряда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происходит уширение анодного слоя на весь разрядный промежуток от низких энергий к энергиям, определяемым разрядным напряжением.</a:t>
            </a:r>
            <a:endParaRPr lang="ru-RU" sz="160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5520" y="457197"/>
            <a:ext cx="7388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Критическая индукция магнитного поля -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граничная между падающей и растущей ветвями зависимости </a:t>
            </a:r>
            <a:r>
              <a:rPr 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9987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72" y="1960031"/>
            <a:ext cx="2907329" cy="25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45660" y="4502422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5. Зависимость плотности ионов на выходе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УАС от величины индукции магнитного поля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аноде: кривая 1 – </a:t>
            </a:r>
            <a:r>
              <a:rPr lang="en-US" sz="1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sz="14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5%;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sz="1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15%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неон;       </a:t>
            </a:r>
          </a:p>
          <a:p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 В;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45659" y="720569"/>
            <a:ext cx="867315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 “оптимальной </a:t>
            </a:r>
            <a:r>
              <a:rPr lang="en-US" sz="1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/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кривая 2 (рис. 5):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 изменения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ростом индукции магнитного поля становится принципиально другим – при некотором значении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достигался не минимум, а 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максимум плотности ионов 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rgbClr val="D7A3CC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660" y="1961120"/>
            <a:ext cx="3689776" cy="25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4346811" y="449743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6. Энергетические спектры ионов на выходе УАС, соответствующие данным рис. 5: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кривые 1, 3 – </a:t>
            </a:r>
            <a:r>
              <a:rPr lang="en-US" sz="1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sz="14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5%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ru-RU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(0.083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0.115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л); кривые 2, 4 –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sz="1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15%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(0.066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0.102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л); неон;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 В;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27545" y="5680928"/>
            <a:ext cx="85912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Сильная чувствительность </a:t>
            </a:r>
            <a:r>
              <a:rPr lang="en-US" sz="1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 величине продольной компоненты магнитного поля, совпадающей по направлению с разрядным («внешним») электрическим полем.</a:t>
            </a:r>
            <a:endParaRPr lang="ru-RU" sz="160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9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D7A3CC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6" y="505313"/>
            <a:ext cx="2520000" cy="246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32352" y="3097201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7. Зависимость плотности ионов на выходе УАС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величины индукции магнитного поля на аноде: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кривая 1 – </a:t>
            </a:r>
            <a:r>
              <a:rPr lang="en-US" sz="1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sz="14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5%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2 –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 </a:t>
            </a:r>
            <a:r>
              <a:rPr lang="en-US" sz="1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sz="1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15%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аргон;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 В;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1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448" y="4144161"/>
            <a:ext cx="8918811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разряда в процессе роста индукции магнитного поля могут изменяться «драматично»: 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радиальном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магнитном поле (кривая 1; </a:t>
            </a:r>
            <a:r>
              <a:rPr lang="en-US" sz="1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плотность ионов при росте </a:t>
            </a:r>
            <a:r>
              <a:rPr lang="ru-RU" sz="1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400" i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0.099 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 до 0.108 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 падает в 3.4 раза; когда “</a:t>
            </a:r>
            <a:r>
              <a:rPr lang="ru-RU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оптимальная </a:t>
            </a:r>
            <a:r>
              <a:rPr lang="en-US" sz="1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(кривая 2; </a:t>
            </a:r>
            <a:r>
              <a:rPr lang="en-US" sz="1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</a:t>
            </a:r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при росте </a:t>
            </a:r>
            <a:r>
              <a:rPr lang="ru-RU" sz="1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400" i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0.085 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 0.087 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плотность падает в 4 раза, подчеркивая </a:t>
            </a:r>
            <a:r>
              <a:rPr lang="ru-RU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пороговый характер процессов в плазме УАС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854" y="596499"/>
            <a:ext cx="4397200" cy="21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4516693" y="3095235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8. Энергетические спектры ионов на выходе УАС (соответствуют данным для кривой 2 рис. 7 – “оптимальная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”): кривая 1 –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0.084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л; кривая 2 –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0.087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л; аргон;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 В;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91333" y="5387386"/>
            <a:ext cx="88335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Спектры ионов по энергии меняются для данных двух случаев подобно: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“</a:t>
            </a:r>
            <a:r>
              <a:rPr lang="ru-RU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прыгает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прианодную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область. </a:t>
            </a:r>
          </a:p>
        </p:txBody>
      </p:sp>
    </p:spTree>
    <p:extLst>
      <p:ext uri="{BB962C8B-B14F-4D97-AF65-F5344CB8AC3E}">
        <p14:creationId xmlns:p14="http://schemas.microsoft.com/office/powerpoint/2010/main" val="43449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225" y="1038882"/>
            <a:ext cx="5400000" cy="277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933767" y="3821453"/>
            <a:ext cx="691369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9. Энергетические спектры ионов на выходе УАС.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неон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кривая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0.099 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кривая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–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0.085 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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–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аргон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1100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0.099 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2012" y="524392"/>
            <a:ext cx="8693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Изомагнитные скачки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потенциала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генераторы скачков плотности ионов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32012" y="4698612"/>
            <a:ext cx="86936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пространственно ограниченные 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(аксиальный размер порядка десятых долей мм) стационарные области с 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 </a:t>
            </a:r>
            <a:r>
              <a:rPr lang="en-US" sz="16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b="1" i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на энергетических спектрах проявляются в виде всплесков функции распределения в узких энергетических диапазонах. </a:t>
            </a:r>
          </a:p>
        </p:txBody>
      </p:sp>
    </p:spTree>
    <p:extLst>
      <p:ext uri="{BB962C8B-B14F-4D97-AF65-F5344CB8AC3E}">
        <p14:creationId xmlns:p14="http://schemas.microsoft.com/office/powerpoint/2010/main" val="211269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1" y="665871"/>
            <a:ext cx="4680000" cy="2622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3465" y="3259511"/>
            <a:ext cx="6637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10. Из спектров выделены 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зомагнитные скачки.</a:t>
            </a:r>
          </a:p>
          <a:p>
            <a:pPr algn="ctr"/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10</a:t>
            </a:r>
            <a:r>
              <a:rPr lang="ru-RU" sz="1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5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Торр. Неон.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1100 В.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I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.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 –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В</a:t>
            </a:r>
            <a:r>
              <a:rPr lang="ru-RU" sz="1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202 Гс; 2 – 401; 3 – 736; 4 – 896; 5 – 989; 6 – 1024; 7 – 1055; 8 – 1151.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8836" y="4432476"/>
            <a:ext cx="86936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Изомагнитные скачки «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передвигаются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вместе со спектром вниз 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вверх по энергии при изменении индукции магнитного поля. Относительная амплитуда ионного тока в скачках </a:t>
            </a:r>
          </a:p>
          <a:p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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 до 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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80% от полного тока ионов на выделенной энергии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369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D9CA5-585B-47E1-A3D7-DFB886C196FA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98924" y="1469633"/>
            <a:ext cx="685415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Проведенные исследования расширили набор явлений </a:t>
            </a:r>
          </a:p>
          <a:p>
            <a:r>
              <a:rPr lang="ru-RU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 особенностей, характеризующих аномальный самостоятельный холловский 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разряд. </a:t>
            </a:r>
          </a:p>
          <a:p>
            <a:r>
              <a:rPr lang="ru-RU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Часть результатов дополняет и расширяет известные данные; </a:t>
            </a:r>
          </a:p>
          <a:p>
            <a:r>
              <a:rPr lang="ru-RU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часть – являются новыми. </a:t>
            </a:r>
          </a:p>
        </p:txBody>
      </p:sp>
    </p:spTree>
    <p:extLst>
      <p:ext uri="{BB962C8B-B14F-4D97-AF65-F5344CB8AC3E}">
        <p14:creationId xmlns:p14="http://schemas.microsoft.com/office/powerpoint/2010/main" val="1673782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78832" y="2336799"/>
            <a:ext cx="50206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4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8459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4682</TotalTime>
  <Words>1539</Words>
  <Application>Microsoft Office PowerPoint</Application>
  <PresentationFormat>Экран (4:3)</PresentationFormat>
  <Paragraphs>96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Calibri</vt:lpstr>
      <vt:lpstr>Candara</vt:lpstr>
      <vt:lpstr>Franklin Gothic Medium Cond</vt:lpstr>
      <vt:lpstr>Symbol</vt:lpstr>
      <vt:lpstr>Times New Roman</vt:lpstr>
      <vt:lpstr>Волна</vt:lpstr>
      <vt:lpstr>      ПРЫЖКИ АНОДНОГО СЛОЯ  В ЗОНЕ EВ РАЗРЯДА   Н.А. Строкин, А.В. Казанцев, В.М. Бардаков, Нгуен Тхе Тханг      Иркутский национальный исследовательский технический университет  е-mail: strokin85@inbox.ru  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Мой дом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ПЛАЗМООПТИЧЕСКАЯ МАСС-СЕПАРАЦИЯ ИЗОТОПОВ   ИЗ ПЛАЗМЕННОГО ПОТОКА</dc:title>
  <dc:creator>Александр</dc:creator>
  <cp:lastModifiedBy>Николай Строкин</cp:lastModifiedBy>
  <cp:revision>984</cp:revision>
  <dcterms:created xsi:type="dcterms:W3CDTF">2010-03-26T07:36:33Z</dcterms:created>
  <dcterms:modified xsi:type="dcterms:W3CDTF">2019-03-20T15:38:02Z</dcterms:modified>
</cp:coreProperties>
</file>